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cold. Name the company and the product. Pause on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pain: providers and clients both carry risk. The status quo has no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steps. The user never sees the chain — they just feel the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zones. The middle zone is where Reach earns its keep — escrow plus geospatial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features, shipped. Emphasize this is production code, not a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market is young, mobile-first, and crypto-fluent. Akwa Ibom (Uyo) first, then the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streams, all on-chain and auditable. Revenue is protocol infrastructure, not an opaque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layers, all production. Emphasize the server-side Solana relayer — users never touch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Backend is built, contract is audited. We're closing the last mile to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three-word promise. Leave the contact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12192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460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94A3B8"/>
                </a:solidFill>
                <a:latin typeface="JetBrains Mono"/>
              </a:rPr>
              <a:t>01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JetBrains Mono"/>
              </a:rPr>
              <a:t>LOCAL SERVICES &amp; ESCROW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Inter"/>
              </a:rPr>
              <a:t>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94A3B8"/>
                </a:solidFill>
                <a:latin typeface="Inter"/>
              </a:rPr>
              <a:t>Find anything, close to home.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20116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EA580C"/>
                </a:solidFill>
                <a:latin typeface="JetBrains Mono"/>
              </a:rPr>
              <a:t>SOLANA ESCROW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4114800"/>
            <a:ext cx="20116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CBD5E1"/>
                </a:solidFill>
                <a:latin typeface="JetBrains Mono"/>
              </a:rPr>
              <a:t>FIAT RAILS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114800"/>
            <a:ext cx="20116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CBD5E1"/>
                </a:solidFill>
                <a:latin typeface="JetBrains Mono"/>
              </a:rPr>
              <a:t>POSTGIS MATCHING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24384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460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JetBrains Mono"/>
              </a:rP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THE TRUST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Inter"/>
              </a:rPr>
              <a:t>Money Moves on Hope. Not Guarantees.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Inter"/>
              </a:rPr>
              <a:t>A ₦4T+ informal services market running entirely on social trust and informal referrals.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2064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7548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991B1B"/>
                </a:solidFill>
                <a:latin typeface="JetBrains Mono"/>
              </a:rPr>
              <a:t>STATUS QUO
</a:t>
            </a:r>
          </a:p>
          <a:p>
            <a:r>
              <a:rPr sz="1700" b="1">
                <a:solidFill>
                  <a:srgbClr val="991B1B"/>
                </a:solidFill>
                <a:latin typeface="Inter"/>
              </a:rPr>
              <a:t>Local Services Today
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EA580C"/>
                </a:solidFill>
                <a:latin typeface="JetBrains Mono"/>
              </a:rPr>
              <a:t>01  </a:t>
            </a:r>
            <a:r>
              <a:rPr sz="1050" b="1">
                <a:solidFill>
                  <a:srgbClr val="0F172A"/>
                </a:solidFill>
                <a:latin typeface="Inter"/>
              </a:rPr>
              <a:t>No Discovery Hub — </a:t>
            </a:r>
            <a:r>
              <a:rPr sz="1000">
                <a:solidFill>
                  <a:srgbClr val="64748B"/>
                </a:solidFill>
                <a:latin typeface="Inter"/>
              </a:rPr>
              <a:t>No single platform to find nearby specialists, dispatch errands, or rent an extra set of hands.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EA580C"/>
                </a:solidFill>
                <a:latin typeface="JetBrains Mono"/>
              </a:rPr>
              <a:t>02  </a:t>
            </a:r>
            <a:r>
              <a:rPr sz="1050" b="1">
                <a:solidFill>
                  <a:srgbClr val="0F172A"/>
                </a:solidFill>
                <a:latin typeface="Inter"/>
              </a:rPr>
              <a:t>No Payment Guarantee — </a:t>
            </a:r>
            <a:r>
              <a:rPr sz="1000">
                <a:solidFill>
                  <a:srgbClr val="64748B"/>
                </a:solidFill>
                <a:latin typeface="Inter"/>
              </a:rPr>
              <a:t>Providers complete physical work with zero contractual assurance of getting paid.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EA580C"/>
                </a:solidFill>
                <a:latin typeface="JetBrains Mono"/>
              </a:rPr>
              <a:t>03  </a:t>
            </a:r>
            <a:r>
              <a:rPr sz="1050" b="1">
                <a:solidFill>
                  <a:srgbClr val="0F172A"/>
                </a:solidFill>
                <a:latin typeface="Inter"/>
              </a:rPr>
              <a:t>Upfront Client Risk — </a:t>
            </a:r>
            <a:r>
              <a:rPr sz="1000">
                <a:solidFill>
                  <a:srgbClr val="64748B"/>
                </a:solidFill>
                <a:latin typeface="Inter"/>
              </a:rPr>
              <a:t>Clients pay before seeing results, with zero recourse or protection if work fails.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EA580C"/>
                </a:solidFill>
                <a:latin typeface="JetBrains Mono"/>
              </a:rPr>
              <a:t>04  </a:t>
            </a:r>
            <a:r>
              <a:rPr sz="1050" b="1">
                <a:solidFill>
                  <a:srgbClr val="0F172A"/>
                </a:solidFill>
                <a:latin typeface="Inter"/>
              </a:rPr>
              <a:t>Word-of-Mouth Pricing — </a:t>
            </a:r>
            <a:r>
              <a:rPr sz="1000">
                <a:solidFill>
                  <a:srgbClr val="64748B"/>
                </a:solidFill>
                <a:latin typeface="Inter"/>
              </a:rPr>
              <a:t>Arbitrary prices with no reliable benchmark or transparent market 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00200"/>
            <a:ext cx="512064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47548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64748B"/>
                </a:solidFill>
                <a:latin typeface="JetBrains Mono"/>
              </a:rPr>
              <a:t>THE STRUCTURAL GAP
</a:t>
            </a:r>
          </a:p>
          <a:p>
            <a:r>
              <a:rPr sz="1700" b="1">
                <a:solidFill>
                  <a:srgbClr val="0F172A"/>
                </a:solidFill>
                <a:latin typeface="Inter"/>
              </a:rPr>
              <a:t>Why Existing Solutions Fail
</a:t>
            </a:r>
          </a:p>
          <a:p>
            <a:pPr>
              <a:spcBef>
                <a:spcPts val="1400"/>
              </a:spcBef>
            </a:pPr>
            <a:r>
              <a:rPr sz="1100" b="1">
                <a:solidFill>
                  <a:srgbClr val="EA580C"/>
                </a:solidFill>
                <a:latin typeface="JetBrains Mono"/>
              </a:rPr>
              <a:t>→  </a:t>
            </a:r>
            <a:r>
              <a:rPr sz="1100">
                <a:solidFill>
                  <a:srgbClr val="64748B"/>
                </a:solidFill>
                <a:latin typeface="Inter"/>
              </a:rPr>
              <a:t>No verified nearby specialist directory or location radius.</a:t>
            </a:r>
          </a:p>
          <a:p>
            <a:pPr>
              <a:spcBef>
                <a:spcPts val="1400"/>
              </a:spcBef>
            </a:pPr>
            <a:r>
              <a:rPr sz="1100" b="1">
                <a:solidFill>
                  <a:srgbClr val="EA580C"/>
                </a:solidFill>
                <a:latin typeface="JetBrains Mono"/>
              </a:rPr>
              <a:t>→  </a:t>
            </a:r>
            <a:r>
              <a:rPr sz="1100">
                <a:solidFill>
                  <a:srgbClr val="64748B"/>
                </a:solidFill>
                <a:latin typeface="Inter"/>
              </a:rPr>
              <a:t>No escrow contracts, no collateral deposits, no legal recourse.</a:t>
            </a:r>
          </a:p>
          <a:p>
            <a:pPr>
              <a:spcBef>
                <a:spcPts val="1400"/>
              </a:spcBef>
            </a:pPr>
            <a:r>
              <a:rPr sz="1100" b="1">
                <a:solidFill>
                  <a:srgbClr val="EA580C"/>
                </a:solidFill>
                <a:latin typeface="JetBrains Mono"/>
              </a:rPr>
              <a:t>→  </a:t>
            </a:r>
            <a:r>
              <a:rPr sz="1100">
                <a:solidFill>
                  <a:srgbClr val="64748B"/>
                </a:solidFill>
                <a:latin typeface="Inter"/>
              </a:rPr>
              <a:t>Trust is fragmented across WhatsApp groups and unrecorded calls.</a:t>
            </a:r>
          </a:p>
          <a:p>
            <a:pPr>
              <a:spcBef>
                <a:spcPts val="1400"/>
              </a:spcBef>
            </a:pPr>
            <a:r>
              <a:rPr sz="1100" b="1">
                <a:solidFill>
                  <a:srgbClr val="EA580C"/>
                </a:solidFill>
                <a:latin typeface="JetBrains Mono"/>
              </a:rPr>
              <a:t>→  </a:t>
            </a:r>
            <a:r>
              <a:rPr sz="1100">
                <a:solidFill>
                  <a:srgbClr val="64748B"/>
                </a:solidFill>
                <a:latin typeface="Inter"/>
              </a:rPr>
              <a:t>A ₦4T+ informal economy operating entirely on hope and social friction.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36576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460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JetBrains Mono"/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ESCROW-POWERED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Inter"/>
              </a:rPr>
              <a:t>Make Every Transaction Trustless.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Inter"/>
              </a:rPr>
              <a:t>Blockchain settles the transaction cryptographically. Ordinary users never see a wallet or private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29184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29260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01 · </a:t>
            </a:r>
            <a:r>
              <a:rPr sz="950" b="1">
                <a:solidFill>
                  <a:srgbClr val="64748B"/>
                </a:solidFill>
                <a:latin typeface="JetBrains Mono"/>
              </a:rPr>
              <a:t>TASK CREATION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0F172A"/>
                </a:solidFill>
                <a:latin typeface="Inter"/>
              </a:rPr>
              <a:t>Funds Locked in Escrow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64748B"/>
                </a:solidFill>
                <a:latin typeface="Inter"/>
              </a:rPr>
              <a:t>Client's budget is locked in a Solana escrow PDA before provider mobilizes. Provider has verifiable proof funds exist.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29184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29260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02 · </a:t>
            </a:r>
            <a:r>
              <a:rPr sz="950" b="1">
                <a:solidFill>
                  <a:srgbClr val="64748B"/>
                </a:solidFill>
                <a:latin typeface="JetBrains Mono"/>
              </a:rPr>
              <a:t>SETTLEMENT GATE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0F172A"/>
                </a:solidFill>
                <a:latin typeface="Inter"/>
              </a:rPr>
              <a:t>Work Verified &amp; Approved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64748B"/>
                </a:solidFill>
                <a:latin typeface="Inter"/>
              </a:rPr>
              <a:t>Provider completes task and uploads proof. Client reviews, approves, and marks the contract fulfilled.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29184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74519"/>
            <a:ext cx="29260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03 · </a:t>
            </a:r>
            <a:r>
              <a:rPr sz="950" b="1">
                <a:solidFill>
                  <a:srgbClr val="64748B"/>
                </a:solidFill>
                <a:latin typeface="JetBrains Mono"/>
              </a:rPr>
              <a:t>TRUSTLESS PAYOUT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0F172A"/>
                </a:solidFill>
                <a:latin typeface="Inter"/>
              </a:rPr>
              <a:t>Automated Payout Release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64748B"/>
                </a:solidFill>
                <a:latin typeface="Inter"/>
              </a:rPr>
              <a:t>Smart contract automatically releases USDC payout to provider. In disputes, admin mediates with custom on-chain splits.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48768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460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JetBrains Mono"/>
              </a:rP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HOW REACH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Inter"/>
              </a:rPr>
              <a:t>Simple for Users. Powerful Underneath.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Inter"/>
              </a:rPr>
              <a:t>Three funding rails: Naira cards, bank transfers, or native Solana wallet (Phantom / Solflare).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29184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29260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01 · </a:t>
            </a:r>
            <a:r>
              <a:rPr sz="950" b="1">
                <a:solidFill>
                  <a:srgbClr val="64748B"/>
                </a:solidFill>
                <a:latin typeface="JetBrains Mono"/>
              </a:rPr>
              <a:t>NAIRA RAILS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0F172A"/>
                </a:solidFill>
                <a:latin typeface="Inter"/>
              </a:rPr>
              <a:t>Post &amp; Fund in Naira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64748B"/>
                </a:solidFill>
                <a:latin typeface="Inter"/>
              </a:rPr>
              <a:t>Client posts a task with budget and location radius. Pays instantly via Nigerian debit card or instant bank transfer.</a:t>
            </a:r>
          </a:p>
          <a:p>
            <a:pPr>
              <a:spcBef>
                <a:spcPts val="1600"/>
              </a:spcBef>
            </a:pPr>
            <a:r>
              <a:rPr sz="1000" i="1">
                <a:solidFill>
                  <a:srgbClr val="94A3B8"/>
                </a:solidFill>
                <a:latin typeface="Inter"/>
              </a:rPr>
              <a:t>No seed phrases. No crypto onboarding. Fiat-first simplicity.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29184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29260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02 · </a:t>
            </a:r>
            <a:r>
              <a:rPr sz="950" b="1">
                <a:solidFill>
                  <a:srgbClr val="EA580C"/>
                </a:solidFill>
                <a:latin typeface="JetBrains Mono"/>
              </a:rPr>
              <a:t>CUSTODIAL RELAYER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0F172A"/>
                </a:solidFill>
                <a:latin typeface="Inter"/>
              </a:rPr>
              <a:t>Escrow &amp; Matchmaking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64748B"/>
                </a:solidFill>
                <a:latin typeface="Inter"/>
              </a:rPr>
              <a:t>Server-side relayer signs and deposits USDC into Solana PDA. PostGIS engine alerts verified nearby specialists.</a:t>
            </a:r>
          </a:p>
          <a:p>
            <a:pPr>
              <a:spcBef>
                <a:spcPts val="1600"/>
              </a:spcBef>
            </a:pPr>
            <a:r>
              <a:rPr sz="1000" i="1">
                <a:solidFill>
                  <a:srgbClr val="94A3B8"/>
                </a:solidFill>
                <a:latin typeface="Inter"/>
              </a:rPr>
              <a:t>Dual-custody float management with Obiex &amp; FossaPay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29184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74519"/>
            <a:ext cx="29260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03 · </a:t>
            </a:r>
            <a:r>
              <a:rPr sz="950" b="1">
                <a:solidFill>
                  <a:srgbClr val="64748B"/>
                </a:solidFill>
                <a:latin typeface="JetBrains Mono"/>
              </a:rPr>
              <a:t>USDC / NGN OFFRAMP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0F172A"/>
                </a:solidFill>
                <a:latin typeface="Inter"/>
              </a:rPr>
              <a:t>Work, Deliver &amp; Cash Out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64748B"/>
                </a:solidFill>
                <a:latin typeface="Inter"/>
              </a:rPr>
              <a:t>Provider accepts task, requests optional advance for materials, completes work, and receives instant payment.</a:t>
            </a:r>
          </a:p>
          <a:p>
            <a:pPr>
              <a:spcBef>
                <a:spcPts val="1600"/>
              </a:spcBef>
            </a:pPr>
            <a:r>
              <a:rPr sz="1000" i="1">
                <a:solidFill>
                  <a:srgbClr val="94A3B8"/>
                </a:solidFill>
                <a:latin typeface="Inter"/>
              </a:rPr>
              <a:t>Receives USDC directly or off-ramps straight to Nigerian bank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60960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460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JetBrains Mono"/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THE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Inter"/>
              </a:rPr>
              <a:t>What We've Built.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Inter"/>
              </a:rPr>
              <a:t>PWA-ready. Push notifications via Firebase. Cloudinary media pipeline. Production engineering.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2918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01  </a:t>
            </a:r>
            <a:r>
              <a:rPr sz="1400" b="1">
                <a:solidFill>
                  <a:srgbClr val="0F172A"/>
                </a:solidFill>
                <a:latin typeface="Inter"/>
              </a:rPr>
              <a:t>Geospatial Matching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PostGIS-powered engine matches tasks with verified providers within dynamic km radiuses.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2918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56232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02  </a:t>
            </a:r>
            <a:r>
              <a:rPr sz="1400" b="1">
                <a:solidFill>
                  <a:srgbClr val="0F172A"/>
                </a:solidFill>
                <a:latin typeface="Inter"/>
              </a:rPr>
              <a:t>On-Chain Escrow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Solana Anchor program handling collateral deposits, upfront advances, and automated release.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2918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56232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03  </a:t>
            </a:r>
            <a:r>
              <a:rPr sz="1400" b="1">
                <a:solidFill>
                  <a:srgbClr val="0F172A"/>
                </a:solidFill>
                <a:latin typeface="Inter"/>
              </a:rPr>
              <a:t>Fiat Payment Rails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Native integration with Obiex and FossaPay for local card checkout and bank off-ramps.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40"/>
            <a:ext cx="32918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13632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04  </a:t>
            </a:r>
            <a:r>
              <a:rPr sz="1400" b="1">
                <a:solidFill>
                  <a:srgbClr val="0F172A"/>
                </a:solidFill>
                <a:latin typeface="Inter"/>
              </a:rPr>
              <a:t>Real-Time Messaging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In-app client-provider chat for instant coordination, media sharing, and milestone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749040"/>
            <a:ext cx="32918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913632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05  </a:t>
            </a:r>
            <a:r>
              <a:rPr sz="1400" b="1">
                <a:solidFill>
                  <a:srgbClr val="0F172A"/>
                </a:solidFill>
                <a:latin typeface="Inter"/>
              </a:rPr>
              <a:t>Reputation System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Bidirectional reviews and verified completion metrics building permanent on-chain trust.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749040"/>
            <a:ext cx="32918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913632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06  </a:t>
            </a:r>
            <a:r>
              <a:rPr sz="1400" b="1">
                <a:solidFill>
                  <a:srgbClr val="0F172A"/>
                </a:solidFill>
                <a:latin typeface="Inter"/>
              </a:rPr>
              <a:t>Identity &amp; KYC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National Identity Number (NIN) and Bank Verification Number (BVN) checks via automated APIs.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73152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460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JetBrains Mono"/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Inter"/>
              </a:rPr>
              <a:t>Nigeria's Service Economy Is Massive and Underserved.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Inter"/>
              </a:rPr>
              <a:t>Mobile-first, young, and crypto-fluent. High inflation drives everyday demand for stablecoin earnings.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42316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A580C"/>
                </a:solidFill>
                <a:latin typeface="Inter"/>
              </a:rPr>
              <a:t>200M+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172A"/>
                </a:solidFill>
                <a:latin typeface="Inter"/>
              </a:rPr>
              <a:t>Population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Inter"/>
              </a:rPr>
              <a:t>Fastest-growing urban market in Africa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42316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78308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A580C"/>
                </a:solidFill>
                <a:latin typeface="Inter"/>
              </a:rPr>
              <a:t>70%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172A"/>
                </a:solidFill>
                <a:latin typeface="Inter"/>
              </a:rPr>
              <a:t>Under 30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Inter"/>
              </a:rPr>
              <a:t>Mobile-first, digital native workforce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91640"/>
            <a:ext cx="242316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78308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A580C"/>
                </a:solidFill>
                <a:latin typeface="Inter"/>
              </a:rPr>
              <a:t>#1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172A"/>
                </a:solidFill>
                <a:latin typeface="Inter"/>
              </a:rPr>
              <a:t>Crypto Adoption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Inter"/>
              </a:rPr>
              <a:t>Chainalysis Global Adoption Index (Africa)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91640"/>
            <a:ext cx="242316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783080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A580C"/>
                </a:solidFill>
                <a:latin typeface="Inter"/>
              </a:rPr>
              <a:t>₦4T+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172A"/>
                </a:solidFill>
                <a:latin typeface="Inter"/>
              </a:rPr>
              <a:t>Informal Services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64748B"/>
                </a:solidFill>
                <a:latin typeface="Inter"/>
              </a:rPr>
              <a:t>Unorganized, cash-heavy addressable TAM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EA580C"/>
                </a:solidFill>
                <a:latin typeface="JetBrains Mono"/>
              </a:rPr>
              <a:t>PHASE 1 LAUNCH
</a:t>
            </a:r>
          </a:p>
          <a:p>
            <a:r>
              <a:rPr sz="1500" b="1">
                <a:solidFill>
                  <a:srgbClr val="0F172A"/>
                </a:solidFill>
                <a:latin typeface="Inter"/>
              </a:rPr>
              <a:t>Akwa Ibom &amp; Uyo Launchpad
</a:t>
            </a:r>
          </a:p>
          <a:p>
            <a:r>
              <a:rPr sz="1100">
                <a:solidFill>
                  <a:srgbClr val="64748B"/>
                </a:solidFill>
                <a:latin typeface="Inter"/>
              </a:rPr>
              <a:t>Emerging digital hub with high artisan density, strong smartphone penetration, and an active, tight-knit service economy.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749039"/>
            <a:ext cx="51206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8862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64748B"/>
                </a:solidFill>
                <a:latin typeface="JetBrains Mono"/>
              </a:rPr>
              <a:t>EXPANSION PATH
</a:t>
            </a:r>
          </a:p>
          <a:p>
            <a:r>
              <a:rPr sz="1500" b="1">
                <a:solidFill>
                  <a:srgbClr val="0F172A"/>
                </a:solidFill>
                <a:latin typeface="Inter"/>
              </a:rPr>
              <a:t>Regional &amp; National Rollout
</a:t>
            </a:r>
          </a:p>
          <a:p>
            <a:r>
              <a:rPr sz="1100">
                <a:solidFill>
                  <a:srgbClr val="64748B"/>
                </a:solidFill>
                <a:latin typeface="Inter"/>
              </a:rPr>
              <a:t>Scale along the South-South corridor (Port Harcourt, Calabar) to Lagos and Abuja, followed by regional West Africa.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85344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460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JetBrains Mono"/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REVENUE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Inter"/>
              </a:rPr>
              <a:t>Transparent, On-Chain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Inter"/>
              </a:rPr>
              <a:t>Protocol revenue is enforced by smart contract logic and accumulates in a publicly auditable fee vault.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29184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EA580C"/>
                </a:solidFill>
                <a:latin typeface="JetBrains Mono"/>
              </a:rPr>
              <a:t>BPS: 250</a:t>
            </a:r>
          </a:p>
          <a:p>
            <a:pPr>
              <a:spcBef>
                <a:spcPts val="400"/>
              </a:spcBef>
            </a:pPr>
            <a:r>
              <a:rPr sz="3600" b="1">
                <a:solidFill>
                  <a:srgbClr val="EA580C"/>
                </a:solidFill>
                <a:latin typeface="Inter"/>
              </a:rPr>
              <a:t>2.5%</a:t>
            </a:r>
          </a:p>
          <a:p>
            <a:r>
              <a:rPr sz="1400" b="1">
                <a:solidFill>
                  <a:srgbClr val="0F172A"/>
                </a:solidFill>
                <a:latin typeface="Inter"/>
              </a:rPr>
              <a:t>Task Creation Fee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Charged upfront when escrow PDA is funded. Diverts directly into the on-chain protocol fee vault.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29184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EA580C"/>
                </a:solidFill>
                <a:latin typeface="JetBrains Mono"/>
              </a:rPr>
              <a:t>BPS: 500</a:t>
            </a:r>
          </a:p>
          <a:p>
            <a:pPr>
              <a:spcBef>
                <a:spcPts val="400"/>
              </a:spcBef>
            </a:pPr>
            <a:r>
              <a:rPr sz="3600" b="1">
                <a:solidFill>
                  <a:srgbClr val="EA580C"/>
                </a:solidFill>
                <a:latin typeface="Inter"/>
              </a:rPr>
              <a:t>5.0%</a:t>
            </a:r>
          </a:p>
          <a:p>
            <a:r>
              <a:rPr sz="1400" b="1">
                <a:solidFill>
                  <a:srgbClr val="0F172A"/>
                </a:solidFill>
                <a:latin typeface="Inter"/>
              </a:rPr>
              <a:t>Platform Commission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Deducted from the approved provider payout upon successful completion of the assignment.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291840" cy="2651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2880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EA580C"/>
                </a:solidFill>
                <a:latin typeface="JetBrains Mono"/>
              </a:rPr>
              <a:t>BPS: 1000</a:t>
            </a:r>
          </a:p>
          <a:p>
            <a:pPr>
              <a:spcBef>
                <a:spcPts val="400"/>
              </a:spcBef>
            </a:pPr>
            <a:r>
              <a:rPr sz="3600" b="1">
                <a:solidFill>
                  <a:srgbClr val="EA580C"/>
                </a:solidFill>
                <a:latin typeface="Inter"/>
              </a:rPr>
              <a:t>10.0%</a:t>
            </a:r>
          </a:p>
          <a:p>
            <a:r>
              <a:rPr sz="1400" b="1">
                <a:solidFill>
                  <a:srgbClr val="0F172A"/>
                </a:solidFill>
                <a:latin typeface="Inter"/>
              </a:rPr>
              <a:t>Cancellation Fee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4748B"/>
                </a:solidFill>
                <a:latin typeface="Inter"/>
              </a:rPr>
              <a:t>Charged if creator cancels an active task after provider assignment to protect worker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26280"/>
            <a:ext cx="1051560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VERIFIABLE BALANCE SHEET  ·  SOLANA MAINNET PDA
</a:t>
            </a:r>
          </a:p>
          <a:p>
            <a:r>
              <a:rPr sz="1200">
                <a:solidFill>
                  <a:srgbClr val="FFFFFF"/>
                </a:solidFill>
                <a:latin typeface="Inter"/>
              </a:rPr>
              <a:t>All protocol fees collect directly into the Anchor Fee Vault PDA. Platform revenue is public, mathematically guaranteed, and immune to opaque bookkeeping.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97536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460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94A3B8"/>
                </a:solidFill>
                <a:latin typeface="JetBrains Mono"/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Inter"/>
              </a:rPr>
              <a:t>Built for Scale and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Inter"/>
              </a:rPr>
              <a:t>158 backend tests passing. Dual-custody treasury management. Production-ready codebase.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5156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19072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01 · FRONTEND   </a:t>
            </a:r>
            <a:r>
              <a:rPr sz="1200" b="1">
                <a:solidFill>
                  <a:srgbClr val="FFFFFF"/>
                </a:solidFill>
                <a:latin typeface="Inter"/>
              </a:rPr>
              <a:t>Next.js 16 + React 19 + TypeScript + Tailwind v4   </a:t>
            </a:r>
            <a:r>
              <a:rPr sz="1050">
                <a:solidFill>
                  <a:srgbClr val="94A3B8"/>
                </a:solidFill>
                <a:latin typeface="Inter"/>
              </a:rPr>
              <a:t>—  PWA-enabled, responsive mobile interface with end-to-end type safety.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87168"/>
            <a:ext cx="105156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02 · BACKEND   </a:t>
            </a:r>
            <a:r>
              <a:rPr sz="1200" b="1">
                <a:solidFill>
                  <a:srgbClr val="FFFFFF"/>
                </a:solidFill>
                <a:latin typeface="Inter"/>
              </a:rPr>
              <a:t>FastAPI (async) + SQLAlchemy 2.0 + asyncpg + Pydantic v2   </a:t>
            </a:r>
            <a:r>
              <a:rPr sz="1050">
                <a:solidFill>
                  <a:srgbClr val="94A3B8"/>
                </a:solidFill>
                <a:latin typeface="Inter"/>
              </a:rPr>
              <a:t>—  High-throughput async Python service with custodial transaction engine.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28416"/>
            <a:ext cx="105156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01568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03 · DATA PLANE   </a:t>
            </a:r>
            <a:r>
              <a:rPr sz="1200" b="1">
                <a:solidFill>
                  <a:srgbClr val="FFFFFF"/>
                </a:solidFill>
                <a:latin typeface="Inter"/>
              </a:rPr>
              <a:t>PostgreSQL + PostGIS + Redis Cache   </a:t>
            </a:r>
            <a:r>
              <a:rPr sz="1050">
                <a:solidFill>
                  <a:srgbClr val="94A3B8"/>
                </a:solidFill>
                <a:latin typeface="Inter"/>
              </a:rPr>
              <a:t>—  Spatial indexing for millisecond-level nearby matching and query acceleration.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9664"/>
            <a:ext cx="105156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42816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04 · ESCROW CONTRACT   </a:t>
            </a:r>
            <a:r>
              <a:rPr sz="1200" b="1">
                <a:solidFill>
                  <a:srgbClr val="FFFFFF"/>
                </a:solidFill>
                <a:latin typeface="Inter"/>
              </a:rPr>
              <a:t>Solana Anchor Program (Rust, 2,300+ LOC)   </a:t>
            </a:r>
            <a:r>
              <a:rPr sz="1050">
                <a:solidFill>
                  <a:srgbClr val="94A3B8"/>
                </a:solidFill>
                <a:latin typeface="Inter"/>
              </a:rPr>
              <a:t>—  Canonical escrow, provider collateral, debt tracking, and dispute splits.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10912"/>
            <a:ext cx="105156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84064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05 · INTEGRATIONS   </a:t>
            </a:r>
            <a:r>
              <a:rPr sz="1200" b="1">
                <a:solidFill>
                  <a:srgbClr val="FFFFFF"/>
                </a:solidFill>
                <a:latin typeface="Inter"/>
              </a:rPr>
              <a:t>Obiex API + FossaPay + Firebase Push + Cloudinary   </a:t>
            </a:r>
            <a:r>
              <a:rPr sz="1050">
                <a:solidFill>
                  <a:srgbClr val="94A3B8"/>
                </a:solidFill>
                <a:latin typeface="Inter"/>
              </a:rPr>
              <a:t>—  Naira checkout, bank payouts, biometric KYC, and instant dispatch notifications.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109728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460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JetBrains Mono"/>
              </a:rP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A580C"/>
                </a:solidFill>
                <a:latin typeface="JetBrains Mono"/>
              </a:rPr>
              <a:t>EXECUTION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Inter"/>
              </a:rPr>
              <a:t>From Code to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Inter"/>
              </a:rPr>
              <a:t>The backend is built. The smart contract is audited. We are closing the last mile to commercial launch.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01168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74519"/>
            <a:ext cx="179222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JetBrains Mono"/>
              </a:rPr>
              <a:t>Q3 2026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66534"/>
                </a:solidFill>
                <a:latin typeface="JetBrains Mono"/>
              </a:rPr>
              <a:t>COMPLETE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F172A"/>
                </a:solidFill>
                <a:latin typeface="Inter"/>
              </a:rPr>
              <a:t>Backend &amp; Contracts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64748B"/>
                </a:solidFill>
                <a:latin typeface="Inter"/>
              </a:rPr>
              <a:t>Solana Anchor program audited &amp; patched. FastAPI relayer &amp; treasury engine built with 158 tests passing.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1691640"/>
            <a:ext cx="201168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874519"/>
            <a:ext cx="179222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JetBrains Mono"/>
              </a:rPr>
              <a:t>Q4 2026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EA580C"/>
                </a:solidFill>
                <a:latin typeface="JetBrains Mono"/>
              </a:rPr>
              <a:t>IN FLIGHT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F172A"/>
                </a:solidFill>
                <a:latin typeface="Inter"/>
              </a:rPr>
              <a:t>Staging &amp; Integration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64748B"/>
                </a:solidFill>
                <a:latin typeface="Inter"/>
              </a:rPr>
              <a:t>Finalizing checkout screens, wallet connection modals, and live Obiex business settlement tests.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1691640"/>
            <a:ext cx="201168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1874519"/>
            <a:ext cx="179222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JetBrains Mono"/>
              </a:rPr>
              <a:t>Q1 2027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64748B"/>
                </a:solidFill>
                <a:latin typeface="JetBrains Mono"/>
              </a:rPr>
              <a:t>TARGET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F172A"/>
                </a:solidFill>
                <a:latin typeface="Inter"/>
              </a:rPr>
              <a:t>Uyo Beta Launch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64748B"/>
                </a:solidFill>
                <a:latin typeface="Inter"/>
              </a:rPr>
              <a:t>Controlled beta release across Uyo commercial clusters. First 1,000 live escrow task settlements.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23176" y="1691640"/>
            <a:ext cx="201168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2904" y="1874519"/>
            <a:ext cx="179222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JetBrains Mono"/>
              </a:rPr>
              <a:t>Q2 2027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64748B"/>
                </a:solidFill>
                <a:latin typeface="JetBrains Mono"/>
              </a:rPr>
              <a:t>TARGET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F172A"/>
                </a:solidFill>
                <a:latin typeface="Inter"/>
              </a:rPr>
              <a:t>Multi-City Scale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64748B"/>
                </a:solidFill>
                <a:latin typeface="Inter"/>
              </a:rPr>
              <a:t>Physical trade items added. Expansion to Port Harcourt, Calabar, and Lagos.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53728" y="1691640"/>
            <a:ext cx="201168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3456" y="1874519"/>
            <a:ext cx="179222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JetBrains Mono"/>
              </a:rPr>
              <a:t>Q3 2027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64748B"/>
                </a:solidFill>
                <a:latin typeface="JetBrains Mono"/>
              </a:rPr>
              <a:t>PLANNED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F172A"/>
                </a:solidFill>
                <a:latin typeface="Inter"/>
              </a:rPr>
              <a:t>Multichain &amp; Regional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64748B"/>
                </a:solidFill>
                <a:latin typeface="Inter"/>
              </a:rPr>
              <a:t>NEAR Intents cross-chain integration. Entering regional West African commercial centers (Accra).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4608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94A3B8"/>
                </a:solidFill>
                <a:latin typeface="JetBrains Mono"/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A580C"/>
                </a:solidFill>
                <a:latin typeface="JetBrains Mono"/>
              </a:rPr>
              <a:t>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326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Inter"/>
              </a:rPr>
              <a:t>YOUR MONEY.</a:t>
            </a:r>
          </a:p>
          <a:p>
            <a:pPr algn="ctr"/>
            <a:r>
              <a:rPr sz="5400" b="1">
                <a:solidFill>
                  <a:srgbClr val="FFFFFF"/>
                </a:solidFill>
                <a:latin typeface="Inter"/>
              </a:rPr>
              <a:t>YOUR WORK.</a:t>
            </a:r>
          </a:p>
          <a:p>
            <a:pPr algn="ctr"/>
            <a:r>
              <a:rPr sz="5400" b="1">
                <a:solidFill>
                  <a:srgbClr val="F97316"/>
                </a:solidFill>
                <a:latin typeface="Inter"/>
              </a:rPr>
              <a:t>SETTLED.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94A3B8"/>
                </a:solidFill>
                <a:latin typeface="Inter"/>
              </a:rPr>
              <a:t>Trustless escrow for Africa's local service economy.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4937760"/>
            <a:ext cx="54864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reachapp.xyz</a:t>
            </a:r>
            <a:r>
              <a:rPr sz="1400">
                <a:solidFill>
                  <a:srgbClr val="64748B"/>
                </a:solidFill>
                <a:latin typeface="JetBrains Mono"/>
              </a:rPr>
              <a:t>   ·   </a:t>
            </a:r>
            <a:r>
              <a:rPr sz="1400" b="1">
                <a:solidFill>
                  <a:srgbClr val="EA580C"/>
                </a:solidFill>
                <a:latin typeface="JetBrains Mono"/>
              </a:rPr>
              <a:t>hello@peni.dev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